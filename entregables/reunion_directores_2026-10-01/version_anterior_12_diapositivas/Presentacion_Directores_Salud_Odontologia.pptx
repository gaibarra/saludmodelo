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objetivo académico. Preguntar qué información resulta indispensable para cada Dirección durante el ciclo y al finalizarlo. No presentar las cifras simuladas como resultados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 a los Directores que prioricen estas cuatro preguntas y agreguen lo que falte. Acordar qué información será necesaria para dar por cerrado el ciclo académico.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el flujo en lenguaje sencillo. Una captura no equivale automáticamente a una práctica acreditada: debe existir revisión del supervisor. Los módulos académicos sirven de base; los formatos clínicos siguen sujetos a validación y desarrollo.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Confirmar la separación administrativa. Salud puede consultar la información académica compartida de Odontología, sin administrar esa Escuela. Este permiso no concede acceso general a los expedientes clínicos.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Todas las cifras de esta imagen son simuladas. La suma incluye las escuelas visibles: Salud y la consulta académica de Odontología. No equivale al número de alumnos propios de Salud. No se cargaron registros ficticios en producción para estas imágenes.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muestra la Escuela de Odontología con administración propia. Las cifras ilustran el funcionamiento posterior, no los registros reales ni una meta institucional. Los paneles completos también se entregan como PNG y PDF aparte.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el Excel preparado. Una fila por colaborador y servicio; repetir correo si participa en varios servicios. La plantilla está lista; la importación no es automática y debe prepararse y validarse. No pedir contraseñas ni información clínica en ese archivo.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Expresar el compromiso personal de acompañamiento. Las visitas no son una auditoría del personal. Buscan comprender el proceso actual, sus excepciones y los formatos utilizados. Coordinar horarios sin interferir con la atención y respetar la confidencialidad. Dos días mínimos por servicio; ampliar si hace falta.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prometer recorrer todos los servicios en una semana. Designar un enlace y reservar al menos dos jornadas por servicio. En la reunión se completa la fecha exacta de entrega del registro: siete días después de la reunión. La fecha del piloto depende de responsables, alcance y condiciones de operación.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los PDF separados. Odontología tiene 56 campos o grupos comentados; Salud 90. Son propuestas de contenido y no una certificación de que el expediente clínico esté listo. Psicología y la oferta concreta de USC Casita requieren confirmación. No discutir datos identificables de pacientes en esta reunión.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Evitar presentar el alcance clínico completo como terminado. Están preparados la demostración, paneles académicos, plantilla Excel y propuestas documentales. Faltan validación institucional y los desarrollos clínicos y de importación correspondientes. Antes de datos reales deben revisarse accesos y reactivarse las medidas de seguridad suspendidas para la demostración. La IA sólo decide asuntos administrativos previamente definidos; no firma ni decide tratamientos.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Completar estos acuerdos durante la reunión: responsable de recopilación de cada Escuela; fecha de entrega en siete días; enlace y calendario de visitas por servicio; servicio piloto y sus participantes; revisores de expedientes y fecha de seguimiento. Registrar acuerdos pendientes como pendientes, no como autorizaciones obtenidas.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El objetivo: conocer y respaldar cada práctica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Una visión compartida para las Direcciones de Salud y Odontología.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73F49"/>
                </a:solidFill>
                <a:latin typeface="Arial"/>
              </a:defRPr>
            </a:pPr>
            <a:r>
              <a:t>Saber qué hizo cada alumno,</a:t>
            </a:r>
          </a:p>
          <a:p>
            <a:pPr>
              <a:spcAft>
                <a:spcPts val="800"/>
              </a:spcAft>
              <a:defRPr sz="3200" b="1">
                <a:solidFill>
                  <a:srgbClr val="173F49"/>
                </a:solidFill>
                <a:latin typeface="Arial"/>
              </a:defRPr>
            </a:pPr>
            <a:r>
              <a:t>quién lo supervisó y qué competencias alcanzó.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97680"/>
            <a:ext cx="53035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297680"/>
            <a:ext cx="50292" cy="1234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448056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Durante el ciclo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919472"/>
            <a:ext cx="4937759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Avances, pendientes y seguimiento oportuno.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4297680"/>
            <a:ext cx="53035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4297680"/>
            <a:ext cx="50292" cy="1234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48056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Al finalizar el ciclo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919472"/>
            <a:ext cx="4937759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Informes individuales y consolidados.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Hoy buscamos acuerdos para comenzar con personas y procesos reales.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Lo que Dirección necesita poder responder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Primero acordamos la información útil; después afinamos los formularios.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468880"/>
            <a:ext cx="53949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468880"/>
            <a:ext cx="50292" cy="13716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01 · Participación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90672"/>
            <a:ext cx="502920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¿Qué prácticas realizó cada alumno y en qué servicio?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468880"/>
            <a:ext cx="53949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468880"/>
            <a:ext cx="50292" cy="13716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6517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02 · Supervisión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090672"/>
            <a:ext cx="502920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¿Quién revisó y validó cada actividad?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069080"/>
            <a:ext cx="53949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4069080"/>
            <a:ext cx="50292" cy="13716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519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03 · Aprendizaje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90872"/>
            <a:ext cx="502920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¿Qué competencias demostró y cuáles debe reforzar?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4069080"/>
            <a:ext cx="53949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069080"/>
            <a:ext cx="50292" cy="13716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2519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04 · Cierre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690872"/>
            <a:ext cx="502920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¿Qué resultados y pendientes deja el ciclo?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Una aplicación que conecta el trabajo cotidiano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Del registro de una actividad al informe académico.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651760"/>
            <a:ext cx="2514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651760"/>
            <a:ext cx="50292" cy="2377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1 · Registrar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47872"/>
            <a:ext cx="21488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Actividad, alumno, servicio y fecha.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651760"/>
            <a:ext cx="2514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651760"/>
            <a:ext cx="50292" cy="2377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2 · Supervisar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547872"/>
            <a:ext cx="21488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Revisión, observaciones y correcciones.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651760"/>
            <a:ext cx="2514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651760"/>
            <a:ext cx="50292" cy="2377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3 · Validar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547872"/>
            <a:ext cx="21488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Actividad y competencia acreditadas.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2651760"/>
            <a:ext cx="2514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2651760"/>
            <a:ext cx="50292" cy="2377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59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4 · Consultar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3547872"/>
            <a:ext cx="21488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Avances e informes para Dirección.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La validación del supervisor convierte el registro en evidencia académica.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Dos escuelas, administración independiente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Salud y Odontología tienen el mismo nivel jerárquico.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50292" cy="210312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Escuela de Salud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456432"/>
            <a:ext cx="4937759" cy="1142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Su Dirección administra sus servicios, colaboradores y seguimiento académico.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560320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560320"/>
            <a:ext cx="50292" cy="210312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Escuela de Odontología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456432"/>
            <a:ext cx="4937759" cy="1142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Su Dirección administra su equipo, operación y prácticas odontológicas.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3F49"/>
                </a:solidFill>
                <a:latin typeface="Arial"/>
              </a:defRPr>
            </a:pPr>
            <a:r>
              <a:t>Salud consulta la información académica compartida de Odontología,</a:t>
            </a:r>
          </a:p>
          <a:p>
            <a:pPr>
              <a:spcAft>
                <a:spcPts val="800"/>
              </a:spcAft>
              <a:defRPr sz="2000" b="0">
                <a:solidFill>
                  <a:srgbClr val="173F49"/>
                </a:solidFill>
                <a:latin typeface="Arial"/>
              </a:defRPr>
            </a:pPr>
            <a:r>
              <a:t>con permisos definidos y sin sustituir a su Dirección.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Así se podrá consultar el avance · Salud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Vista ilustrativa de la interfaz actual con cifras ficticias.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05</a:t>
            </a:r>
          </a:p>
        </p:txBody>
      </p:sp>
      <p:pic>
        <p:nvPicPr>
          <p:cNvPr id="8" name="Picture 7" descr="02_Direccion_Sal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427" y="2267712"/>
            <a:ext cx="5138825" cy="40050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0" y="2651760"/>
            <a:ext cx="30175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Administración de Salud.</a:t>
            </a: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Consulta académica de Odontología.</a:t>
            </a: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Avance por escuela.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Así se podrá consultar el avance · Odontología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Vista ilustrativa de la interfaz actual con cifras ficticias.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06</a:t>
            </a:r>
          </a:p>
        </p:txBody>
      </p:sp>
      <p:pic>
        <p:nvPicPr>
          <p:cNvPr id="8" name="Picture 7" descr="03_Direccion_Odontolog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427" y="2267712"/>
            <a:ext cx="5138825" cy="40050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0" y="2651760"/>
            <a:ext cx="30175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Administración propia.</a:t>
            </a: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Prácticas supervisadas.</a:t>
            </a: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Informes del ciclo.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Primer compromiso: colaboradores en siete días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Cada Escuela entrega una relación revisada por su Dirección.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14600"/>
            <a:ext cx="35661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514600"/>
            <a:ext cx="50292" cy="256032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Qué registrar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10712"/>
            <a:ext cx="3200400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Nombre y correo institucional.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Servicio y función.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Participación y vigencia.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2514600"/>
            <a:ext cx="35661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2514600"/>
            <a:ext cx="50292" cy="256032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Cómo colaborar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3410712"/>
            <a:ext cx="3200400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Captura en la aplicación o plantilla Excel.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Un responsable por Escuela.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7575" y="2514600"/>
            <a:ext cx="35661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575" y="2514600"/>
            <a:ext cx="50292" cy="256032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5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Cómo entregar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5" y="3410712"/>
            <a:ext cx="3200400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Dirección revisa la relación.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Se consolidan las copias y se revisan duplicados.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Excel es una alternativa de recopilación; su carga requiere revisión e importación preparada.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Mi compromiso: al menos dos días por servicio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C.P. Gonzalo Arturo Ibarra Mendoza · Presencia física y escucha del equipo.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53035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50292" cy="24231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Día 1 · Conocer y escuchar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456432"/>
            <a:ext cx="4937759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Recorrer el proceso actual.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Escuchar a colaboradores y supervisores.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Identificar formatos y dificultades.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560320"/>
            <a:ext cx="53035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560320"/>
            <a:ext cx="50292" cy="24231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Día 2 · Revisar y acordar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456432"/>
            <a:ext cx="4937759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Revisar casos y excepciones.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Validar lo observado con el equipo.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Acordar ajustes y prioridades.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Un enlace por servicio y calendario acordado. Las visitas pueden ampliarse.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Calendario propuesto: avanzar en paralelo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Los siete días corresponden a la recopilación; las visitas tienen su propio calendario.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651760"/>
            <a:ext cx="2514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651760"/>
            <a:ext cx="50292" cy="2377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En la reunión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47872"/>
            <a:ext cx="21488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Acordar responsables, servicio piloto y fechas.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651760"/>
            <a:ext cx="2514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651760"/>
            <a:ext cx="50292" cy="2377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Días 1–4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547872"/>
            <a:ext cx="21488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Recopilar colaboradores en aplicación o Excel.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651760"/>
            <a:ext cx="2514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651760"/>
            <a:ext cx="50292" cy="2377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Días 5–7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547872"/>
            <a:ext cx="21488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Revisar, corregir y entregar la relación.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2651760"/>
            <a:ext cx="2514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2651760"/>
            <a:ext cx="50292" cy="2377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59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Visitas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3547872"/>
            <a:ext cx="21488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Dos días por servicio, según agenda acordada.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Después: validar los ajustes y acordar el inicio del piloto; Odontología es la propuesta inicial.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Expedientes: contenido a revisar por cada Escuela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Se entregan dos documentos, con una explicación breve de cada campo.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53035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50292" cy="24231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Odontología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456432"/>
            <a:ext cx="4937759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Historia, exploración y odontograma.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Plan, consentimiento y evolución.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Prácticas del alumno y supervisión.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560320"/>
            <a:ext cx="53035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560320"/>
            <a:ext cx="50292" cy="24231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Servicios de Salud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456432"/>
            <a:ext cx="4937759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Campos comunes y por disciplina.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Distinguir atención clínica y actividad no clínica.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Seguimiento académico vinculado.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Cada servicio designa a quien revisará sus campos y documentos.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Qué está preparado y qué falta acordar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La demostración permite revisar el enfoque antes de operar con información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14600"/>
            <a:ext cx="356616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514600"/>
            <a:ext cx="50292" cy="26060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Preparado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10712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Aplicación de demostración.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Paneles académicos.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Excel y propuestas de expedientes.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2514600"/>
            <a:ext cx="356616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2514600"/>
            <a:ext cx="50292" cy="26060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Por validar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3410712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Procesos y responsables.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Campos y permisos.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Importación de Excel y alcance clínico.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7575" y="2514600"/>
            <a:ext cx="356616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575" y="2514600"/>
            <a:ext cx="50292" cy="26060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5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Papel de la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5" y="3410712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Preparar opciones con justificación.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Automatizar sólo asuntos administrativos definidos.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La evaluación y las decisiones clínicas permanecen bajo responsabilidad profesional.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Cerremos con responsables y fechas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Cinco acuerdos concretos para pasar de la demostración al trabajo institucional.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31720"/>
            <a:ext cx="411480" cy="41148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3911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31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73F49"/>
                </a:solidFill>
                <a:latin typeface="Arial"/>
              </a:defRPr>
            </a:pPr>
            <a:r>
              <a:t>Registro de colaboradores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359151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Responsable por Escuela y entrega en siete días.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99232"/>
            <a:ext cx="411480" cy="41148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0586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9992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73F49"/>
                </a:solidFill>
                <a:latin typeface="Arial"/>
              </a:defRPr>
            </a:pPr>
            <a:r>
              <a:t>Visitas de trabajo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026663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Enlace y al menos dos días presenciales por servicio.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66744"/>
            <a:ext cx="411480" cy="41148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7261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66674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73F49"/>
                </a:solidFill>
                <a:latin typeface="Arial"/>
              </a:defRPr>
            </a:pPr>
            <a:r>
              <a:t>Piloto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69417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Servicio, equipo y condiciones para iniciar.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334256"/>
            <a:ext cx="411480" cy="41148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43936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33425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73F49"/>
                </a:solidFill>
                <a:latin typeface="Arial"/>
              </a:defRPr>
            </a:pPr>
            <a:r>
              <a:t>Expedientes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36168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Revisor de cada servicio y fecha de devolución.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01768"/>
            <a:ext cx="411480" cy="41148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50612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0017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73F49"/>
                </a:solidFill>
                <a:latin typeface="Arial"/>
              </a:defRPr>
            </a:pPr>
            <a:r>
              <a:t>Seguimiento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50292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Fecha de próxima reunión y acuerdos por comprobar.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